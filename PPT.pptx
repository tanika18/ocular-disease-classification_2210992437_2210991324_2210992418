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2"/>
  </p:notesMasterIdLst>
  <p:handoutMasterIdLst>
    <p:handoutMasterId r:id="rId13"/>
  </p:handoutMasterIdLst>
  <p:sldIdLst>
    <p:sldId id="256" r:id="rId5"/>
    <p:sldId id="257" r:id="rId6"/>
    <p:sldId id="271" r:id="rId7"/>
    <p:sldId id="272" r:id="rId8"/>
    <p:sldId id="273" r:id="rId9"/>
    <p:sldId id="275" r:id="rId10"/>
    <p:sldId id="268" r:id="rId1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6"/>
  </p:normalViewPr>
  <p:slideViewPr>
    <p:cSldViewPr snapToGrid="0">
      <p:cViewPr varScale="1">
        <p:scale>
          <a:sx n="59" d="100"/>
          <a:sy n="59" d="100"/>
        </p:scale>
        <p:origin x="15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5/2/2026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5/2/2026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5/2/2026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Shape 1">
            <a:extLst>
              <a:ext uri="{FF2B5EF4-FFF2-40B4-BE49-F238E27FC236}">
                <a16:creationId xmlns:a16="http://schemas.microsoft.com/office/drawing/2014/main" id="{ADED0CA6-0D83-0E59-E8A7-4D29002FEB08}"/>
              </a:ext>
            </a:extLst>
          </p:cNvPr>
          <p:cNvSpPr txBox="1"/>
          <p:nvPr/>
        </p:nvSpPr>
        <p:spPr>
          <a:xfrm>
            <a:off x="0" y="913199"/>
            <a:ext cx="9144000" cy="5498487"/>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a:latin typeface="Times New Roman" panose="02020603050405020304" pitchFamily="18" charset="0"/>
                <a:ea typeface="Calibri" panose="020F0502020204030204" pitchFamily="34" charset="0"/>
                <a:cs typeface="Times New Roman" panose="02020603050405020304" pitchFamily="18" charset="0"/>
              </a:rPr>
              <a:t>Automated Ocular Disease Classification</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     Tanika		</a:t>
            </a:r>
            <a:r>
              <a:rPr lang="en-US" sz="2000" spc="-1" dirty="0">
                <a:solidFill>
                  <a:srgbClr val="000000"/>
                </a:solidFill>
                <a:latin typeface="Times New Roman" panose="02020603050405020304" pitchFamily="18" charset="0"/>
                <a:ea typeface="MS PGothic"/>
                <a:cs typeface="Times New Roman" panose="02020603050405020304" pitchFamily="18" charset="0"/>
              </a:rPr>
              <a:t>          </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Anvi Malik		       Sumanyu Sharma</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2210992437		             2210991324                        2210992418			</a:t>
            </a:r>
            <a:br>
              <a:rPr lang="en-US" sz="2000"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	</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b="1"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Darpan Anand </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Department of </a:t>
            </a:r>
            <a:r>
              <a:rPr lang="en-US" sz="20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0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299236" y="1091658"/>
            <a:ext cx="8545528" cy="4674684"/>
          </a:xfrm>
          <a:prstGeom prst="rect">
            <a:avLst/>
          </a:prstGeom>
          <a:noFill/>
          <a:ln w="9360">
            <a:noFill/>
          </a:ln>
        </p:spPr>
        <p:txBody>
          <a:bodyPr>
            <a:noAutofit/>
          </a:bodyPr>
          <a:lstStyle/>
          <a:p>
            <a:pPr algn="just">
              <a:lnSpc>
                <a:spcPct val="150000"/>
              </a:lnSpc>
              <a:spcBef>
                <a:spcPts val="400"/>
              </a:spcBef>
            </a:pPr>
            <a:endParaRPr lang="en-US" sz="1900" b="0" strike="noStrike" spc="-1" dirty="0">
              <a:solidFill>
                <a:srgbClr val="000000"/>
              </a:solidFill>
              <a:latin typeface="Calibri"/>
            </a:endParaRPr>
          </a:p>
          <a:p>
            <a:pPr algn="just"/>
            <a:r>
              <a:rPr lang="en-IN" sz="2000" b="1" dirty="0"/>
              <a:t>Vision</a:t>
            </a:r>
            <a:r>
              <a:rPr lang="en-IN" sz="2000" dirty="0"/>
              <a:t> is one of our most vital senses, yet over 2.2 billion people worldwide live with some form of vision impairment. Diseases such as Glaucoma, Diabetic Retinopathy, and Cataract are among the leading causes of preventable blindness — conditions that, if caught early, can be treated or managed effectively.</a:t>
            </a:r>
          </a:p>
          <a:p>
            <a:pPr algn="just"/>
            <a:endParaRPr lang="en-IN" sz="2000" dirty="0"/>
          </a:p>
          <a:p>
            <a:pPr algn="just"/>
            <a:r>
              <a:rPr lang="en-IN" sz="2000" dirty="0"/>
              <a:t>Despite this, access to trained ophthalmic specialists remains severely limited in developing regions. Manual examination of retinal fundus images is time-consuming, costly, and prone to human error. This project addresses that gap by proposing an automated deep learning system capable of classifying eye diseases directly from retinal images — making early screening faster, cheaper, and more accessible.</a:t>
            </a:r>
            <a:endParaRPr lang="en-US" sz="1900"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ED1A-4686-AE92-CA31-3CD51329248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552E07A-63DB-B382-7418-CF10249A334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1F3F011F-3785-1850-17FA-F7712DBCA23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796F242C-BD36-78AD-19E9-3F215263F5AC}"/>
              </a:ext>
            </a:extLst>
          </p:cNvPr>
          <p:cNvSpPr txBox="1"/>
          <p:nvPr/>
        </p:nvSpPr>
        <p:spPr>
          <a:xfrm>
            <a:off x="457200" y="1176026"/>
            <a:ext cx="8251614" cy="4984920"/>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algn="just"/>
            <a:r>
              <a:rPr lang="en-IN" sz="2000" dirty="0"/>
              <a:t>The growing global burden of ocular diseases, combined with a critical shortage of specialist healthcare infrastructure in low-resource settings, creates a significant diagnostic gap. Traditional methods of retinal disease detection rely heavily on trained ophthalmologists manually examining fundus images — a process that is </a:t>
            </a:r>
            <a:r>
              <a:rPr lang="en-IN" sz="2000" b="1" dirty="0"/>
              <a:t>slow, expensive, and unavailable</a:t>
            </a:r>
            <a:r>
              <a:rPr lang="en-IN" sz="2000" dirty="0"/>
              <a:t> to a large portion of the world's population. There exists a pressing need for an automated, lightweight, and accurate system that can screen retinal images for diseases such as Cataract, Diabetic Retinopathy, and Glaucoma without requiring specialist intervention.</a:t>
            </a: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95682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50886-3B33-3BB9-2ED2-78158533907F}"/>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FEEF9F0-E910-6453-D481-F26773D9C4E9}"/>
              </a:ext>
            </a:extLst>
          </p:cNvPr>
          <p:cNvSpPr txBox="1"/>
          <p:nvPr/>
        </p:nvSpPr>
        <p:spPr>
          <a:xfrm>
            <a:off x="436179" y="0"/>
            <a:ext cx="6019560" cy="837720"/>
          </a:xfrm>
          <a:prstGeom prst="rect">
            <a:avLst/>
          </a:prstGeom>
          <a:noFill/>
          <a:ln w="9360">
            <a:noFill/>
          </a:ln>
        </p:spPr>
        <p:txBody>
          <a:bodyPr anchor="ctr">
            <a:noAutofit/>
          </a:bodyPr>
          <a:lstStyle/>
          <a:p>
            <a:pPr algn="ctr">
              <a:lnSpc>
                <a:spcPct val="100000"/>
              </a:lnSpc>
            </a:pPr>
            <a:r>
              <a:rPr lang="en-US" sz="3000" spc="-1" dirty="0">
                <a:solidFill>
                  <a:srgbClr val="000000"/>
                </a:solidFill>
                <a:latin typeface="Times New Roman" panose="02020603050405020304" pitchFamily="18" charset="0"/>
                <a:cs typeface="Times New Roman" panose="02020603050405020304" pitchFamily="18" charset="0"/>
              </a:rPr>
              <a:t>Objectives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30488D28-103A-2142-7909-98B53F53C27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7375C10B-CCED-B1D3-B340-C9CE8B2DBF52}"/>
              </a:ext>
            </a:extLst>
          </p:cNvPr>
          <p:cNvSpPr txBox="1"/>
          <p:nvPr/>
        </p:nvSpPr>
        <p:spPr>
          <a:xfrm>
            <a:off x="337336" y="968828"/>
            <a:ext cx="8469328" cy="5115549"/>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457200" lvl="0" indent="-317500">
              <a:buClr>
                <a:srgbClr val="000000"/>
              </a:buClr>
              <a:buSzPts val="1400"/>
              <a:buChar char="●"/>
            </a:pPr>
            <a:r>
              <a:rPr lang="en-IN" sz="2000" dirty="0"/>
              <a:t>Classify retinal fundus images into 4 categories — </a:t>
            </a:r>
            <a:r>
              <a:rPr lang="en-IN" sz="2000" b="1" dirty="0"/>
              <a:t>Cataract, Diabetic Retinopathy, Glaucoma, and Normal</a:t>
            </a:r>
            <a:br>
              <a:rPr lang="en-IN" sz="2000" b="1" dirty="0"/>
            </a:br>
            <a:endParaRPr lang="en-IN" sz="2000" b="1" dirty="0"/>
          </a:p>
          <a:p>
            <a:pPr marL="457200" lvl="0" indent="-317500">
              <a:buClr>
                <a:srgbClr val="000000"/>
              </a:buClr>
              <a:buSzPts val="1400"/>
              <a:buChar char="●"/>
            </a:pPr>
            <a:r>
              <a:rPr lang="en-IN" sz="2000" dirty="0"/>
              <a:t>Use </a:t>
            </a:r>
            <a:r>
              <a:rPr lang="en-IN" sz="2000" b="1" dirty="0"/>
              <a:t>MobileNetV2 with Transfer Learning</a:t>
            </a:r>
            <a:r>
              <a:rPr lang="en-IN" sz="2000" dirty="0"/>
              <a:t> for efficient and accurate classification</a:t>
            </a:r>
            <a:br>
              <a:rPr lang="en-IN" sz="2000" dirty="0"/>
            </a:br>
            <a:endParaRPr lang="en-IN" sz="2000" dirty="0"/>
          </a:p>
          <a:p>
            <a:pPr marL="457200" lvl="0" indent="-317500">
              <a:buClr>
                <a:srgbClr val="000000"/>
              </a:buClr>
              <a:buSzPts val="1400"/>
              <a:buChar char="●"/>
            </a:pPr>
            <a:r>
              <a:rPr lang="en-IN" sz="2000" dirty="0"/>
              <a:t>Apply </a:t>
            </a:r>
            <a:r>
              <a:rPr lang="en-IN" sz="2000" b="1" dirty="0"/>
              <a:t>data augmentation </a:t>
            </a:r>
            <a:r>
              <a:rPr lang="en-IN" sz="2000" dirty="0"/>
              <a:t>to improve model performance on a small dataset</a:t>
            </a:r>
            <a:br>
              <a:rPr lang="en-IN" sz="2000" dirty="0"/>
            </a:br>
            <a:endParaRPr lang="en-IN" sz="2000" dirty="0"/>
          </a:p>
          <a:p>
            <a:pPr marL="457200" lvl="0" indent="-317500">
              <a:buClr>
                <a:srgbClr val="000000"/>
              </a:buClr>
              <a:buSzPts val="1400"/>
              <a:buChar char="●"/>
            </a:pPr>
            <a:r>
              <a:rPr lang="en-IN" sz="2000" dirty="0"/>
              <a:t>Evaluate the model using accuracy, loss, precision, and recall</a:t>
            </a:r>
            <a:br>
              <a:rPr lang="en-IN" sz="2000" dirty="0"/>
            </a:br>
            <a:endParaRPr lang="en-IN" sz="2000" dirty="0"/>
          </a:p>
          <a:p>
            <a:pPr marL="457200" lvl="0" indent="-317500">
              <a:buClr>
                <a:srgbClr val="000000"/>
              </a:buClr>
              <a:buSzPts val="1400"/>
              <a:buChar char="●"/>
            </a:pPr>
            <a:r>
              <a:rPr lang="en-IN" sz="2000" dirty="0"/>
              <a:t>Build a lightweight model suitable for real-world, low-resource deployment</a:t>
            </a: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
        <p:nvSpPr>
          <p:cNvPr id="14" name="Rectangle 10">
            <a:extLst>
              <a:ext uri="{FF2B5EF4-FFF2-40B4-BE49-F238E27FC236}">
                <a16:creationId xmlns:a16="http://schemas.microsoft.com/office/drawing/2014/main" id="{58428407-8556-561F-3139-CCB692AF9FA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023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AD4B3-DEE0-3247-6DBE-63BA51818A6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C12494E-D031-E0F7-84C6-104340726A8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Methodology</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AA463F9-BD05-B702-E3D9-021B3C0A1DB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F3B03569-3B2C-773A-2474-3A561991DAA6}"/>
              </a:ext>
            </a:extLst>
          </p:cNvPr>
          <p:cNvSpPr txBox="1"/>
          <p:nvPr/>
        </p:nvSpPr>
        <p:spPr>
          <a:xfrm>
            <a:off x="299236" y="837720"/>
            <a:ext cx="8545528" cy="5180863"/>
          </a:xfrm>
          <a:prstGeom prst="rect">
            <a:avLst/>
          </a:prstGeom>
          <a:noFill/>
          <a:ln w="9360">
            <a:noFill/>
          </a:ln>
        </p:spPr>
        <p:txBody>
          <a:bodyPr>
            <a:noAutofit/>
          </a:bodyPr>
          <a:lstStyle/>
          <a:p>
            <a:pPr algn="just">
              <a:lnSpc>
                <a:spcPct val="150000"/>
              </a:lnSpc>
              <a:spcBef>
                <a:spcPts val="400"/>
              </a:spcBef>
            </a:pPr>
            <a:endParaRPr lang="en-US" sz="1900" b="0" strike="noStrike" spc="-1" dirty="0">
              <a:solidFill>
                <a:srgbClr val="000000"/>
              </a:solidFill>
              <a:latin typeface="Calibri"/>
            </a:endParaRPr>
          </a:p>
          <a:p>
            <a:pPr marL="457200" lvl="0" indent="-317500" algn="just">
              <a:buClr>
                <a:srgbClr val="000000"/>
              </a:buClr>
              <a:buSzPts val="1400"/>
              <a:buChar char="●"/>
            </a:pPr>
            <a:r>
              <a:rPr lang="en-IN" sz="2000" b="1" dirty="0"/>
              <a:t>Dataset:</a:t>
            </a:r>
            <a:r>
              <a:rPr lang="en-IN" sz="2000" dirty="0"/>
              <a:t> 4,217 labelled retinal fundus images across 4 classes, split 80/20 into training and validation sets</a:t>
            </a:r>
          </a:p>
          <a:p>
            <a:pPr marL="457200" lvl="0" indent="-317500" algn="just">
              <a:buClr>
                <a:srgbClr val="000000"/>
              </a:buClr>
              <a:buSzPts val="1400"/>
              <a:buChar char="●"/>
            </a:pPr>
            <a:r>
              <a:rPr lang="en-IN" sz="2000" b="1" dirty="0"/>
              <a:t>Preprocessing:</a:t>
            </a:r>
            <a:r>
              <a:rPr lang="en-IN" sz="2000" dirty="0"/>
              <a:t> Images resized to 256×256, pixel values normalized to [−1, +1]</a:t>
            </a:r>
          </a:p>
          <a:p>
            <a:pPr marL="457200" lvl="0" indent="-317500" algn="just">
              <a:buClr>
                <a:srgbClr val="000000"/>
              </a:buClr>
              <a:buSzPts val="1400"/>
              <a:buChar char="●"/>
            </a:pPr>
            <a:r>
              <a:rPr lang="en-IN" sz="2000" b="1" dirty="0"/>
              <a:t>Augmentation:</a:t>
            </a:r>
            <a:r>
              <a:rPr lang="en-IN" sz="2000" dirty="0"/>
              <a:t> Random horizontal flip and rotation applied during training to increase data diversity</a:t>
            </a:r>
          </a:p>
          <a:p>
            <a:pPr marL="457200" lvl="0" indent="-317500" algn="just">
              <a:buClr>
                <a:srgbClr val="000000"/>
              </a:buClr>
              <a:buSzPts val="1400"/>
              <a:buChar char="●"/>
            </a:pPr>
            <a:r>
              <a:rPr lang="en-IN" sz="2000" b="1" dirty="0"/>
              <a:t>Model:</a:t>
            </a:r>
            <a:r>
              <a:rPr lang="en-IN" sz="2000" dirty="0"/>
              <a:t> MobileNetV2 backbone (pre-trained on ImageNet, frozen) with GlobalAveragePooling2D, Dropout(0.2), and a Dense output layer</a:t>
            </a:r>
          </a:p>
          <a:p>
            <a:pPr marL="457200" lvl="0" indent="-317500" algn="just">
              <a:buClr>
                <a:srgbClr val="000000"/>
              </a:buClr>
              <a:buSzPts val="1400"/>
              <a:buChar char="●"/>
            </a:pPr>
            <a:r>
              <a:rPr lang="en-IN" sz="2000" b="1" dirty="0"/>
              <a:t>Training:</a:t>
            </a:r>
            <a:r>
              <a:rPr lang="en-IN" sz="2000" dirty="0"/>
              <a:t> Adam optimizer (</a:t>
            </a:r>
            <a:r>
              <a:rPr lang="en-IN" sz="2000" dirty="0" err="1"/>
              <a:t>lr</a:t>
            </a:r>
            <a:r>
              <a:rPr lang="en-IN" sz="2000" dirty="0"/>
              <a:t> = 0.0001), </a:t>
            </a:r>
            <a:r>
              <a:rPr lang="en-IN" sz="2000" dirty="0" err="1"/>
              <a:t>SparseCategoricalCrossentropy</a:t>
            </a:r>
            <a:r>
              <a:rPr lang="en-IN" sz="2000" dirty="0"/>
              <a:t> loss, 25 epochs with </a:t>
            </a:r>
            <a:r>
              <a:rPr lang="en-IN" sz="2000" dirty="0" err="1"/>
              <a:t>EarlyStopping</a:t>
            </a:r>
            <a:r>
              <a:rPr lang="en-IN" sz="2000" dirty="0"/>
              <a:t> (patience = 3)</a:t>
            </a:r>
          </a:p>
          <a:p>
            <a:pPr marL="457200" lvl="0" indent="-317500" algn="just">
              <a:buClr>
                <a:srgbClr val="000000"/>
              </a:buClr>
              <a:buSzPts val="1400"/>
              <a:buChar char="●"/>
            </a:pPr>
            <a:r>
              <a:rPr lang="en-IN" sz="2000" b="1" dirty="0"/>
              <a:t>Evaluation:</a:t>
            </a:r>
            <a:r>
              <a:rPr lang="en-IN" sz="2000" dirty="0"/>
              <a:t> Model assessed on validation set using accuracy and loss curves, and a 5×5 prediction confidence grid</a:t>
            </a:r>
            <a:endParaRPr lang="en-US" sz="1900" b="0"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83669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34AD-32AE-811C-5A3F-E69DBD911B4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F51CC60-502C-A91B-73A2-503A2C4A8CF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07DE79A-64EB-FC1B-F243-C344E43EF836}"/>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F4BAD209-945B-9EF0-9968-358E6BC9F95D}"/>
              </a:ext>
            </a:extLst>
          </p:cNvPr>
          <p:cNvSpPr txBox="1"/>
          <p:nvPr/>
        </p:nvSpPr>
        <p:spPr>
          <a:xfrm>
            <a:off x="446193" y="1151529"/>
            <a:ext cx="8251614" cy="4554942"/>
          </a:xfrm>
          <a:prstGeom prst="rect">
            <a:avLst/>
          </a:prstGeom>
          <a:noFill/>
          <a:ln w="9360">
            <a:noFill/>
          </a:ln>
        </p:spPr>
        <p:txBody>
          <a:bodyPr>
            <a:noAutofit/>
          </a:bodyPr>
          <a:lstStyle/>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r>
              <a:rPr lang="en-IN" sz="2000" dirty="0"/>
              <a:t>This project successfully demonstrates that MobileNetV2 with Transfer Learning is an effective approach for automated ocular disease classification, achieving a peak validation accuracy of </a:t>
            </a:r>
            <a:r>
              <a:rPr lang="en-IN" sz="2000" b="1" dirty="0"/>
              <a:t>82.56%</a:t>
            </a:r>
            <a:r>
              <a:rPr lang="en-IN" sz="2000" dirty="0"/>
              <a:t> on </a:t>
            </a:r>
            <a:r>
              <a:rPr lang="en-IN" sz="2000" b="1" dirty="0"/>
              <a:t>4,217</a:t>
            </a:r>
            <a:r>
              <a:rPr lang="en-IN" sz="2000" dirty="0"/>
              <a:t> </a:t>
            </a:r>
            <a:r>
              <a:rPr lang="en-IN" sz="2000" b="1" dirty="0"/>
              <a:t>retinal fundus images</a:t>
            </a:r>
            <a:r>
              <a:rPr lang="en-IN" sz="2000" dirty="0"/>
              <a:t>. </a:t>
            </a:r>
          </a:p>
          <a:p>
            <a:pPr algn="just">
              <a:lnSpc>
                <a:spcPct val="100000"/>
              </a:lnSpc>
              <a:spcBef>
                <a:spcPts val="400"/>
              </a:spcBef>
            </a:pPr>
            <a:r>
              <a:rPr lang="en-IN" sz="2000" dirty="0"/>
              <a:t>The model's lightweight architecture of under 9 MB makes it a practical candidate for real-world deployment on mobile devices, particularly in under-resourced clinical settings where specialist access is limited. With minimal regularization and simple augmentation, the model generalizes well across all four disease classes, confirming the viability of deep learning as a tool for scalable, </a:t>
            </a:r>
            <a:r>
              <a:rPr lang="en-IN" sz="2000" b="1" dirty="0"/>
              <a:t>early-stage eye disease screening.</a:t>
            </a:r>
            <a:endParaRPr lang="en-US" sz="1900" b="1" strike="noStrike" spc="-1" dirty="0">
              <a:solidFill>
                <a:srgbClr val="000000"/>
              </a:solidFill>
              <a:latin typeface="Calibri"/>
            </a:endParaRPr>
          </a:p>
          <a:p>
            <a:pPr algn="just">
              <a:lnSpc>
                <a:spcPct val="15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a:p>
            <a:pPr algn="just">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005463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37609</TotalTime>
  <Words>582</Words>
  <Application>Microsoft Office PowerPoint</Application>
  <PresentationFormat>On-screen Show (4:3)</PresentationFormat>
  <Paragraphs>74</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Tanika .</cp:lastModifiedBy>
  <cp:revision>2310</cp:revision>
  <dcterms:created xsi:type="dcterms:W3CDTF">2010-04-09T07:36:15Z</dcterms:created>
  <dcterms:modified xsi:type="dcterms:W3CDTF">2026-05-02T08:53:52Z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